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Firs Neue Bold" charset="1" panose="02000803030000020004"/>
      <p:regular r:id="rId14"/>
    </p:embeddedFont>
    <p:embeddedFont>
      <p:font typeface="TT Firs Neue" charset="1" panose="02000503030000020004"/>
      <p:regular r:id="rId15"/>
    </p:embeddedFont>
    <p:embeddedFont>
      <p:font typeface="Open Sans Bold" charset="1" panose="020B0806030504020204"/>
      <p:regular r:id="rId16"/>
    </p:embeddedFont>
    <p:embeddedFont>
      <p:font typeface="Open Sans" charset="1" panose="020B06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17" Target="../media/image34.png" Type="http://schemas.openxmlformats.org/officeDocument/2006/relationships/image"/><Relationship Id="rId18" Target="../media/image35.svg" Type="http://schemas.openxmlformats.org/officeDocument/2006/relationships/image"/><Relationship Id="rId19" Target="../media/image36.png" Type="http://schemas.openxmlformats.org/officeDocument/2006/relationships/image"/><Relationship Id="rId2" Target="../media/image1.jpeg" Type="http://schemas.openxmlformats.org/officeDocument/2006/relationships/image"/><Relationship Id="rId20" Target="../media/image37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27523" y="4842925"/>
            <a:ext cx="24143047" cy="24143047"/>
          </a:xfrm>
          <a:custGeom>
            <a:avLst/>
            <a:gdLst/>
            <a:ahLst/>
            <a:cxnLst/>
            <a:rect r="r" b="b" t="t" l="l"/>
            <a:pathLst>
              <a:path h="24143047" w="24143047">
                <a:moveTo>
                  <a:pt x="0" y="0"/>
                </a:moveTo>
                <a:lnTo>
                  <a:pt x="24143046" y="0"/>
                </a:lnTo>
                <a:lnTo>
                  <a:pt x="24143046" y="24143046"/>
                </a:lnTo>
                <a:lnTo>
                  <a:pt x="0" y="2414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0848" y="7534385"/>
            <a:ext cx="17006305" cy="17006305"/>
          </a:xfrm>
          <a:custGeom>
            <a:avLst/>
            <a:gdLst/>
            <a:ahLst/>
            <a:cxnLst/>
            <a:rect r="r" b="b" t="t" l="l"/>
            <a:pathLst>
              <a:path h="17006305" w="17006305">
                <a:moveTo>
                  <a:pt x="0" y="0"/>
                </a:moveTo>
                <a:lnTo>
                  <a:pt x="17006304" y="0"/>
                </a:lnTo>
                <a:lnTo>
                  <a:pt x="17006304" y="17006305"/>
                </a:lnTo>
                <a:lnTo>
                  <a:pt x="0" y="170063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294857" y="5965231"/>
            <a:ext cx="18831232" cy="18831232"/>
          </a:xfrm>
          <a:custGeom>
            <a:avLst/>
            <a:gdLst/>
            <a:ahLst/>
            <a:cxnLst/>
            <a:rect r="r" b="b" t="t" l="l"/>
            <a:pathLst>
              <a:path h="18831232" w="18831232">
                <a:moveTo>
                  <a:pt x="0" y="0"/>
                </a:moveTo>
                <a:lnTo>
                  <a:pt x="18831232" y="0"/>
                </a:lnTo>
                <a:lnTo>
                  <a:pt x="18831232" y="18831232"/>
                </a:lnTo>
                <a:lnTo>
                  <a:pt x="0" y="188312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65093" y="8389357"/>
            <a:ext cx="5957813" cy="848988"/>
          </a:xfrm>
          <a:custGeom>
            <a:avLst/>
            <a:gdLst/>
            <a:ahLst/>
            <a:cxnLst/>
            <a:rect r="r" b="b" t="t" l="l"/>
            <a:pathLst>
              <a:path h="848988" w="5957813">
                <a:moveTo>
                  <a:pt x="0" y="0"/>
                </a:moveTo>
                <a:lnTo>
                  <a:pt x="5957814" y="0"/>
                </a:lnTo>
                <a:lnTo>
                  <a:pt x="5957814" y="848989"/>
                </a:lnTo>
                <a:lnTo>
                  <a:pt x="0" y="8489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54855" y="809871"/>
            <a:ext cx="13178289" cy="359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42"/>
              </a:lnSpc>
            </a:pPr>
            <a:r>
              <a:rPr lang="en-US" b="true" sz="13705" spc="-740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DEFINICIÓN </a:t>
            </a:r>
          </a:p>
          <a:p>
            <a:pPr algn="ctr">
              <a:lnSpc>
                <a:spcPts val="13842"/>
              </a:lnSpc>
            </a:pPr>
            <a:r>
              <a:rPr lang="en-US" b="true" sz="13705" spc="-740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DE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82144" y="7391623"/>
            <a:ext cx="3077156" cy="198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b="true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INTEGRANTES:  </a:t>
            </a:r>
          </a:p>
          <a:p>
            <a:pPr algn="l">
              <a:lnSpc>
                <a:spcPts val="2689"/>
              </a:lnSpc>
            </a:pPr>
            <a:r>
              <a:rPr lang="en-US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JOSÉ VALENZUELA</a:t>
            </a:r>
          </a:p>
          <a:p>
            <a:pPr algn="l">
              <a:lnSpc>
                <a:spcPts val="2689"/>
              </a:lnSpc>
            </a:pPr>
            <a:r>
              <a:rPr lang="en-US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FELIPE VERDUGO</a:t>
            </a:r>
          </a:p>
          <a:p>
            <a:pPr algn="l">
              <a:lnSpc>
                <a:spcPts val="2689"/>
              </a:lnSpc>
            </a:pPr>
            <a:r>
              <a:rPr lang="en-US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FELIPE CATALAN</a:t>
            </a:r>
          </a:p>
          <a:p>
            <a:pPr algn="l">
              <a:lnSpc>
                <a:spcPts val="2689"/>
              </a:lnSpc>
            </a:pPr>
            <a:r>
              <a:rPr lang="en-US" b="true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PROFESOR: </a:t>
            </a:r>
          </a:p>
          <a:p>
            <a:pPr algn="l">
              <a:lnSpc>
                <a:spcPts val="2689"/>
              </a:lnSpc>
            </a:pPr>
            <a:r>
              <a:rPr lang="en-US" sz="2085" spc="-112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JUAN HERNANDEZ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48622" y="8663216"/>
            <a:ext cx="2145690" cy="30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2"/>
              </a:lnSpc>
            </a:pPr>
            <a:r>
              <a:rPr lang="en-US" sz="2358" spc="-127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Presentado por: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94313" y="8653691"/>
            <a:ext cx="2412672" cy="35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b="true" sz="2616" spc="-141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Indie Company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2730" y="4957762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1" y="0"/>
                </a:lnTo>
                <a:lnTo>
                  <a:pt x="15109371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162308" y="-1949114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8423" y="3475372"/>
            <a:ext cx="1853475" cy="1668128"/>
          </a:xfrm>
          <a:custGeom>
            <a:avLst/>
            <a:gdLst/>
            <a:ahLst/>
            <a:cxnLst/>
            <a:rect r="r" b="b" t="t" l="l"/>
            <a:pathLst>
              <a:path h="1668128" w="1853475">
                <a:moveTo>
                  <a:pt x="0" y="0"/>
                </a:moveTo>
                <a:lnTo>
                  <a:pt x="1853475" y="0"/>
                </a:lnTo>
                <a:lnTo>
                  <a:pt x="1853475" y="1668128"/>
                </a:lnTo>
                <a:lnTo>
                  <a:pt x="0" y="1668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41607" y="3475372"/>
            <a:ext cx="1853475" cy="1668128"/>
          </a:xfrm>
          <a:custGeom>
            <a:avLst/>
            <a:gdLst/>
            <a:ahLst/>
            <a:cxnLst/>
            <a:rect r="r" b="b" t="t" l="l"/>
            <a:pathLst>
              <a:path h="1668128" w="1853475">
                <a:moveTo>
                  <a:pt x="0" y="0"/>
                </a:moveTo>
                <a:lnTo>
                  <a:pt x="1853476" y="0"/>
                </a:lnTo>
                <a:lnTo>
                  <a:pt x="1853476" y="1668128"/>
                </a:lnTo>
                <a:lnTo>
                  <a:pt x="0" y="16681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90683" y="3475372"/>
            <a:ext cx="1710900" cy="1668128"/>
          </a:xfrm>
          <a:custGeom>
            <a:avLst/>
            <a:gdLst/>
            <a:ahLst/>
            <a:cxnLst/>
            <a:rect r="r" b="b" t="t" l="l"/>
            <a:pathLst>
              <a:path h="1668128" w="1710900">
                <a:moveTo>
                  <a:pt x="0" y="0"/>
                </a:moveTo>
                <a:lnTo>
                  <a:pt x="1710900" y="0"/>
                </a:lnTo>
                <a:lnTo>
                  <a:pt x="1710900" y="1668128"/>
                </a:lnTo>
                <a:lnTo>
                  <a:pt x="0" y="16681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31561" y="3475372"/>
            <a:ext cx="1659787" cy="1668128"/>
          </a:xfrm>
          <a:custGeom>
            <a:avLst/>
            <a:gdLst/>
            <a:ahLst/>
            <a:cxnLst/>
            <a:rect r="r" b="b" t="t" l="l"/>
            <a:pathLst>
              <a:path h="1668128" w="1659787">
                <a:moveTo>
                  <a:pt x="0" y="0"/>
                </a:moveTo>
                <a:lnTo>
                  <a:pt x="1659787" y="0"/>
                </a:lnTo>
                <a:lnTo>
                  <a:pt x="1659787" y="1668128"/>
                </a:lnTo>
                <a:lnTo>
                  <a:pt x="0" y="16681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3960" y="486961"/>
            <a:ext cx="10666722" cy="298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5"/>
              </a:lnSpc>
            </a:pPr>
            <a:r>
              <a:rPr lang="en-US" b="true" sz="7679" spc="-414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CONTEXTO Y PROBLEMÁTICA</a:t>
            </a:r>
          </a:p>
          <a:p>
            <a:pPr algn="l">
              <a:lnSpc>
                <a:spcPts val="775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00094" y="5567472"/>
            <a:ext cx="3430133" cy="184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</a:t>
            </a:r>
            <a:r>
              <a:rPr lang="en-US" b="true" sz="2100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ación de NotasNET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AED6E4"/>
                </a:solidFill>
                <a:latin typeface="Open Sans"/>
                <a:ea typeface="Open Sans"/>
                <a:cs typeface="Open Sans"/>
                <a:sym typeface="Open Sans"/>
              </a:rPr>
              <a:t>Funciona solo como un visor estático de calificaciones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53279" y="5567472"/>
            <a:ext cx="3430133" cy="184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</a:t>
            </a:r>
            <a:r>
              <a:rPr lang="en-US" b="true" sz="2100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ión reactiva academica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AED6E4"/>
                </a:solidFill>
                <a:latin typeface="Open Sans"/>
                <a:ea typeface="Open Sans"/>
                <a:cs typeface="Open Sans"/>
                <a:sym typeface="Open Sans"/>
              </a:rPr>
              <a:t>La información escolar se procesa y analiza tarde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31066" y="5567472"/>
            <a:ext cx="3430133" cy="184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Riesgo inm</a:t>
            </a:r>
            <a:r>
              <a:rPr lang="en-US" b="true" sz="2100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inente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AED6E4"/>
                </a:solidFill>
                <a:latin typeface="Open Sans"/>
                <a:ea typeface="Open Sans"/>
                <a:cs typeface="Open Sans"/>
                <a:sym typeface="Open Sans"/>
              </a:rPr>
              <a:t>El bajo rendimiento se evidencia cuando no hay margen de acción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12730" y="5567472"/>
            <a:ext cx="3922714" cy="184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Desconexión comunic</a:t>
            </a:r>
            <a:r>
              <a:rPr lang="en-US" b="true" sz="2100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acional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AED6E4"/>
                </a:solidFill>
                <a:latin typeface="Open Sans"/>
                <a:ea typeface="Open Sans"/>
                <a:cs typeface="Open Sans"/>
                <a:sym typeface="Open Sans"/>
              </a:rPr>
              <a:t>Brecha en el trabajo entre estudiantes, familias, docentes y directivos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82255" y="-11935753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48851" y="4373471"/>
            <a:ext cx="1483580" cy="1483580"/>
          </a:xfrm>
          <a:custGeom>
            <a:avLst/>
            <a:gdLst/>
            <a:ahLst/>
            <a:cxnLst/>
            <a:rect r="r" b="b" t="t" l="l"/>
            <a:pathLst>
              <a:path h="1483580" w="1483580">
                <a:moveTo>
                  <a:pt x="0" y="0"/>
                </a:moveTo>
                <a:lnTo>
                  <a:pt x="1483580" y="0"/>
                </a:lnTo>
                <a:lnTo>
                  <a:pt x="1483580" y="1483580"/>
                </a:lnTo>
                <a:lnTo>
                  <a:pt x="0" y="1483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17115" y="4373471"/>
            <a:ext cx="1268461" cy="1483580"/>
          </a:xfrm>
          <a:custGeom>
            <a:avLst/>
            <a:gdLst/>
            <a:ahLst/>
            <a:cxnLst/>
            <a:rect r="r" b="b" t="t" l="l"/>
            <a:pathLst>
              <a:path h="1483580" w="1268461">
                <a:moveTo>
                  <a:pt x="0" y="0"/>
                </a:moveTo>
                <a:lnTo>
                  <a:pt x="1268461" y="0"/>
                </a:lnTo>
                <a:lnTo>
                  <a:pt x="1268461" y="1483580"/>
                </a:lnTo>
                <a:lnTo>
                  <a:pt x="0" y="14835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40639" y="4373471"/>
            <a:ext cx="1578277" cy="1483580"/>
          </a:xfrm>
          <a:custGeom>
            <a:avLst/>
            <a:gdLst/>
            <a:ahLst/>
            <a:cxnLst/>
            <a:rect r="r" b="b" t="t" l="l"/>
            <a:pathLst>
              <a:path h="1483580" w="1578277">
                <a:moveTo>
                  <a:pt x="0" y="0"/>
                </a:moveTo>
                <a:lnTo>
                  <a:pt x="1578277" y="0"/>
                </a:lnTo>
                <a:lnTo>
                  <a:pt x="1578277" y="1483580"/>
                </a:lnTo>
                <a:lnTo>
                  <a:pt x="0" y="14835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96669" y="1114425"/>
            <a:ext cx="14215756" cy="191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2"/>
              </a:lnSpc>
            </a:pPr>
            <a:r>
              <a:rPr lang="en-US" b="true" sz="4923" spc="-265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Plataforma Web de Analísis Académico, Convivencia Escolar y Comunicación Automatizada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5574" y="6637799"/>
            <a:ext cx="3430133" cy="10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Intel</a:t>
            </a:r>
            <a:r>
              <a:rPr lang="en-US" b="true" sz="2100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igencia Artificial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AED6E4"/>
                </a:solidFill>
                <a:latin typeface="Open Sans"/>
                <a:ea typeface="Open Sans"/>
                <a:cs typeface="Open Sans"/>
                <a:sym typeface="Open Sans"/>
              </a:rPr>
              <a:t>(Asistente pedagógico).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98429" y="6637799"/>
            <a:ext cx="3905833" cy="10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b="true" sz="2100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inería de Datos Predictiva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AED6E4"/>
                </a:solidFill>
                <a:latin typeface="Open Sans"/>
                <a:ea typeface="Open Sans"/>
                <a:cs typeface="Open Sans"/>
                <a:sym typeface="Open Sans"/>
              </a:rPr>
              <a:t>(Predicción a largo plazo)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47130" y="6637799"/>
            <a:ext cx="3965296" cy="109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</a:t>
            </a:r>
            <a:r>
              <a:rPr lang="en-US" b="true" sz="2100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nsajería Automatizada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AED6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AED6E4"/>
                </a:solidFill>
                <a:latin typeface="Open Sans"/>
                <a:ea typeface="Open Sans"/>
                <a:cs typeface="Open Sans"/>
                <a:sym typeface="Open Sans"/>
              </a:rPr>
              <a:t>(Comunicación sin fricción)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44902" y="-5559764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555056" y="-4477285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420001"/>
            <a:ext cx="7076281" cy="3579420"/>
          </a:xfrm>
          <a:custGeom>
            <a:avLst/>
            <a:gdLst/>
            <a:ahLst/>
            <a:cxnLst/>
            <a:rect r="r" b="b" t="t" l="l"/>
            <a:pathLst>
              <a:path h="3579420" w="7076281">
                <a:moveTo>
                  <a:pt x="0" y="0"/>
                </a:moveTo>
                <a:lnTo>
                  <a:pt x="7076281" y="0"/>
                </a:lnTo>
                <a:lnTo>
                  <a:pt x="7076281" y="3579421"/>
                </a:lnTo>
                <a:lnTo>
                  <a:pt x="0" y="35794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000"/>
            </a:blip>
            <a:stretch>
              <a:fillRect l="-145954" t="-2763" r="-167865" b="-14156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36598" y="2551632"/>
            <a:ext cx="5006475" cy="991255"/>
            <a:chOff x="0" y="0"/>
            <a:chExt cx="1318578" cy="2610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8578" cy="261071"/>
            </a:xfrm>
            <a:custGeom>
              <a:avLst/>
              <a:gdLst/>
              <a:ahLst/>
              <a:cxnLst/>
              <a:rect r="r" b="b" t="t" l="l"/>
              <a:pathLst>
                <a:path h="261071" w="1318578">
                  <a:moveTo>
                    <a:pt x="69587" y="0"/>
                  </a:moveTo>
                  <a:lnTo>
                    <a:pt x="1248991" y="0"/>
                  </a:lnTo>
                  <a:cubicBezTo>
                    <a:pt x="1287422" y="0"/>
                    <a:pt x="1318578" y="31155"/>
                    <a:pt x="1318578" y="69587"/>
                  </a:cubicBezTo>
                  <a:lnTo>
                    <a:pt x="1318578" y="191484"/>
                  </a:lnTo>
                  <a:cubicBezTo>
                    <a:pt x="1318578" y="229916"/>
                    <a:pt x="1287422" y="261071"/>
                    <a:pt x="1248991" y="261071"/>
                  </a:cubicBezTo>
                  <a:lnTo>
                    <a:pt x="69587" y="261071"/>
                  </a:lnTo>
                  <a:cubicBezTo>
                    <a:pt x="31155" y="261071"/>
                    <a:pt x="0" y="229916"/>
                    <a:pt x="0" y="191484"/>
                  </a:cubicBezTo>
                  <a:lnTo>
                    <a:pt x="0" y="69587"/>
                  </a:lnTo>
                  <a:cubicBezTo>
                    <a:pt x="0" y="31155"/>
                    <a:pt x="31155" y="0"/>
                    <a:pt x="695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8D1D9">
                    <a:alpha val="23000"/>
                  </a:srgbClr>
                </a:gs>
                <a:gs pos="50000">
                  <a:srgbClr val="706F79">
                    <a:alpha val="23000"/>
                  </a:srgbClr>
                </a:gs>
                <a:gs pos="100000">
                  <a:srgbClr val="1100AD">
                    <a:alpha val="23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318578" cy="242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6598" y="4190339"/>
            <a:ext cx="4535951" cy="991255"/>
            <a:chOff x="0" y="0"/>
            <a:chExt cx="1194654" cy="2610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4654" cy="261071"/>
            </a:xfrm>
            <a:custGeom>
              <a:avLst/>
              <a:gdLst/>
              <a:ahLst/>
              <a:cxnLst/>
              <a:rect r="r" b="b" t="t" l="l"/>
              <a:pathLst>
                <a:path h="261071" w="1194654">
                  <a:moveTo>
                    <a:pt x="76806" y="0"/>
                  </a:moveTo>
                  <a:lnTo>
                    <a:pt x="1117848" y="0"/>
                  </a:lnTo>
                  <a:cubicBezTo>
                    <a:pt x="1138218" y="0"/>
                    <a:pt x="1157754" y="8092"/>
                    <a:pt x="1172158" y="22496"/>
                  </a:cubicBezTo>
                  <a:cubicBezTo>
                    <a:pt x="1186562" y="36900"/>
                    <a:pt x="1194654" y="56435"/>
                    <a:pt x="1194654" y="76806"/>
                  </a:cubicBezTo>
                  <a:lnTo>
                    <a:pt x="1194654" y="184266"/>
                  </a:lnTo>
                  <a:cubicBezTo>
                    <a:pt x="1194654" y="204636"/>
                    <a:pt x="1186562" y="224172"/>
                    <a:pt x="1172158" y="238575"/>
                  </a:cubicBezTo>
                  <a:cubicBezTo>
                    <a:pt x="1157754" y="252979"/>
                    <a:pt x="1138218" y="261071"/>
                    <a:pt x="1117848" y="261071"/>
                  </a:cubicBezTo>
                  <a:lnTo>
                    <a:pt x="76806" y="261071"/>
                  </a:lnTo>
                  <a:cubicBezTo>
                    <a:pt x="34387" y="261071"/>
                    <a:pt x="0" y="226684"/>
                    <a:pt x="0" y="184266"/>
                  </a:cubicBezTo>
                  <a:lnTo>
                    <a:pt x="0" y="76806"/>
                  </a:lnTo>
                  <a:cubicBezTo>
                    <a:pt x="0" y="56435"/>
                    <a:pt x="8092" y="36900"/>
                    <a:pt x="22496" y="22496"/>
                  </a:cubicBezTo>
                  <a:cubicBezTo>
                    <a:pt x="36900" y="8092"/>
                    <a:pt x="56435" y="0"/>
                    <a:pt x="768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8D1D9">
                    <a:alpha val="23000"/>
                  </a:srgbClr>
                </a:gs>
                <a:gs pos="50000">
                  <a:srgbClr val="706F79">
                    <a:alpha val="23000"/>
                  </a:srgbClr>
                </a:gs>
                <a:gs pos="100000">
                  <a:srgbClr val="1100AD">
                    <a:alpha val="23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194654" cy="242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6598" y="6087103"/>
            <a:ext cx="5006475" cy="991255"/>
            <a:chOff x="0" y="0"/>
            <a:chExt cx="1318578" cy="261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8578" cy="261071"/>
            </a:xfrm>
            <a:custGeom>
              <a:avLst/>
              <a:gdLst/>
              <a:ahLst/>
              <a:cxnLst/>
              <a:rect r="r" b="b" t="t" l="l"/>
              <a:pathLst>
                <a:path h="261071" w="1318578">
                  <a:moveTo>
                    <a:pt x="69587" y="0"/>
                  </a:moveTo>
                  <a:lnTo>
                    <a:pt x="1248991" y="0"/>
                  </a:lnTo>
                  <a:cubicBezTo>
                    <a:pt x="1287422" y="0"/>
                    <a:pt x="1318578" y="31155"/>
                    <a:pt x="1318578" y="69587"/>
                  </a:cubicBezTo>
                  <a:lnTo>
                    <a:pt x="1318578" y="191484"/>
                  </a:lnTo>
                  <a:cubicBezTo>
                    <a:pt x="1318578" y="229916"/>
                    <a:pt x="1287422" y="261071"/>
                    <a:pt x="1248991" y="261071"/>
                  </a:cubicBezTo>
                  <a:lnTo>
                    <a:pt x="69587" y="261071"/>
                  </a:lnTo>
                  <a:cubicBezTo>
                    <a:pt x="31155" y="261071"/>
                    <a:pt x="0" y="229916"/>
                    <a:pt x="0" y="191484"/>
                  </a:cubicBezTo>
                  <a:lnTo>
                    <a:pt x="0" y="69587"/>
                  </a:lnTo>
                  <a:cubicBezTo>
                    <a:pt x="0" y="31155"/>
                    <a:pt x="31155" y="0"/>
                    <a:pt x="695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8D1D9">
                    <a:alpha val="23000"/>
                  </a:srgbClr>
                </a:gs>
                <a:gs pos="50000">
                  <a:srgbClr val="706F79">
                    <a:alpha val="23000"/>
                  </a:srgbClr>
                </a:gs>
                <a:gs pos="100000">
                  <a:srgbClr val="1100AD">
                    <a:alpha val="23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1318578" cy="242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36598" y="8002041"/>
            <a:ext cx="4535951" cy="991255"/>
            <a:chOff x="0" y="0"/>
            <a:chExt cx="1194654" cy="2610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4654" cy="261071"/>
            </a:xfrm>
            <a:custGeom>
              <a:avLst/>
              <a:gdLst/>
              <a:ahLst/>
              <a:cxnLst/>
              <a:rect r="r" b="b" t="t" l="l"/>
              <a:pathLst>
                <a:path h="261071" w="1194654">
                  <a:moveTo>
                    <a:pt x="76806" y="0"/>
                  </a:moveTo>
                  <a:lnTo>
                    <a:pt x="1117848" y="0"/>
                  </a:lnTo>
                  <a:cubicBezTo>
                    <a:pt x="1138218" y="0"/>
                    <a:pt x="1157754" y="8092"/>
                    <a:pt x="1172158" y="22496"/>
                  </a:cubicBezTo>
                  <a:cubicBezTo>
                    <a:pt x="1186562" y="36900"/>
                    <a:pt x="1194654" y="56435"/>
                    <a:pt x="1194654" y="76806"/>
                  </a:cubicBezTo>
                  <a:lnTo>
                    <a:pt x="1194654" y="184266"/>
                  </a:lnTo>
                  <a:cubicBezTo>
                    <a:pt x="1194654" y="204636"/>
                    <a:pt x="1186562" y="224172"/>
                    <a:pt x="1172158" y="238575"/>
                  </a:cubicBezTo>
                  <a:cubicBezTo>
                    <a:pt x="1157754" y="252979"/>
                    <a:pt x="1138218" y="261071"/>
                    <a:pt x="1117848" y="261071"/>
                  </a:cubicBezTo>
                  <a:lnTo>
                    <a:pt x="76806" y="261071"/>
                  </a:lnTo>
                  <a:cubicBezTo>
                    <a:pt x="34387" y="261071"/>
                    <a:pt x="0" y="226684"/>
                    <a:pt x="0" y="184266"/>
                  </a:cubicBezTo>
                  <a:lnTo>
                    <a:pt x="0" y="76806"/>
                  </a:lnTo>
                  <a:cubicBezTo>
                    <a:pt x="0" y="56435"/>
                    <a:pt x="8092" y="36900"/>
                    <a:pt x="22496" y="22496"/>
                  </a:cubicBezTo>
                  <a:cubicBezTo>
                    <a:pt x="36900" y="8092"/>
                    <a:pt x="56435" y="0"/>
                    <a:pt x="768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8D1D9">
                    <a:alpha val="23000"/>
                  </a:srgbClr>
                </a:gs>
                <a:gs pos="50000">
                  <a:srgbClr val="706F79">
                    <a:alpha val="23000"/>
                  </a:srgbClr>
                </a:gs>
                <a:gs pos="100000">
                  <a:srgbClr val="1100AD">
                    <a:alpha val="23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194654" cy="242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8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109402" y="4120157"/>
            <a:ext cx="1378488" cy="1061436"/>
          </a:xfrm>
          <a:custGeom>
            <a:avLst/>
            <a:gdLst/>
            <a:ahLst/>
            <a:cxnLst/>
            <a:rect r="r" b="b" t="t" l="l"/>
            <a:pathLst>
              <a:path h="1061436" w="1378488">
                <a:moveTo>
                  <a:pt x="0" y="0"/>
                </a:moveTo>
                <a:lnTo>
                  <a:pt x="1378489" y="0"/>
                </a:lnTo>
                <a:lnTo>
                  <a:pt x="1378489" y="1061436"/>
                </a:lnTo>
                <a:lnTo>
                  <a:pt x="0" y="10614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76796" y="2457554"/>
            <a:ext cx="1325181" cy="1179411"/>
          </a:xfrm>
          <a:custGeom>
            <a:avLst/>
            <a:gdLst/>
            <a:ahLst/>
            <a:cxnLst/>
            <a:rect r="r" b="b" t="t" l="l"/>
            <a:pathLst>
              <a:path h="1179411" w="1325181">
                <a:moveTo>
                  <a:pt x="0" y="0"/>
                </a:moveTo>
                <a:lnTo>
                  <a:pt x="1325181" y="0"/>
                </a:lnTo>
                <a:lnTo>
                  <a:pt x="1325181" y="1179411"/>
                </a:lnTo>
                <a:lnTo>
                  <a:pt x="0" y="11794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276796" y="6013788"/>
            <a:ext cx="1048601" cy="1064570"/>
          </a:xfrm>
          <a:custGeom>
            <a:avLst/>
            <a:gdLst/>
            <a:ahLst/>
            <a:cxnLst/>
            <a:rect r="r" b="b" t="t" l="l"/>
            <a:pathLst>
              <a:path h="1064570" w="1048601">
                <a:moveTo>
                  <a:pt x="0" y="0"/>
                </a:moveTo>
                <a:lnTo>
                  <a:pt x="1048602" y="0"/>
                </a:lnTo>
                <a:lnTo>
                  <a:pt x="1048602" y="1064570"/>
                </a:lnTo>
                <a:lnTo>
                  <a:pt x="0" y="10645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801097" y="8261811"/>
            <a:ext cx="704473" cy="704473"/>
          </a:xfrm>
          <a:custGeom>
            <a:avLst/>
            <a:gdLst/>
            <a:ahLst/>
            <a:cxnLst/>
            <a:rect r="r" b="b" t="t" l="l"/>
            <a:pathLst>
              <a:path h="704473" w="704473">
                <a:moveTo>
                  <a:pt x="0" y="0"/>
                </a:moveTo>
                <a:lnTo>
                  <a:pt x="704473" y="0"/>
                </a:lnTo>
                <a:lnTo>
                  <a:pt x="704473" y="704473"/>
                </a:lnTo>
                <a:lnTo>
                  <a:pt x="0" y="7044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847659" y="7883577"/>
            <a:ext cx="835397" cy="835397"/>
          </a:xfrm>
          <a:custGeom>
            <a:avLst/>
            <a:gdLst/>
            <a:ahLst/>
            <a:cxnLst/>
            <a:rect r="r" b="b" t="t" l="l"/>
            <a:pathLst>
              <a:path h="835397" w="835397">
                <a:moveTo>
                  <a:pt x="0" y="0"/>
                </a:moveTo>
                <a:lnTo>
                  <a:pt x="835397" y="0"/>
                </a:lnTo>
                <a:lnTo>
                  <a:pt x="835397" y="835397"/>
                </a:lnTo>
                <a:lnTo>
                  <a:pt x="0" y="8353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945496">
            <a:off x="7611456" y="7724581"/>
            <a:ext cx="3065088" cy="1088106"/>
          </a:xfrm>
          <a:custGeom>
            <a:avLst/>
            <a:gdLst/>
            <a:ahLst/>
            <a:cxnLst/>
            <a:rect r="r" b="b" t="t" l="l"/>
            <a:pathLst>
              <a:path h="1088106" w="3065088">
                <a:moveTo>
                  <a:pt x="0" y="0"/>
                </a:moveTo>
                <a:lnTo>
                  <a:pt x="3065088" y="0"/>
                </a:lnTo>
                <a:lnTo>
                  <a:pt x="3065088" y="1088106"/>
                </a:lnTo>
                <a:lnTo>
                  <a:pt x="0" y="10881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true" rot="-2016986">
            <a:off x="7615374" y="2998834"/>
            <a:ext cx="3065088" cy="1088106"/>
          </a:xfrm>
          <a:custGeom>
            <a:avLst/>
            <a:gdLst/>
            <a:ahLst/>
            <a:cxnLst/>
            <a:rect r="r" b="b" t="t" l="l"/>
            <a:pathLst>
              <a:path h="1088106" w="3065088">
                <a:moveTo>
                  <a:pt x="0" y="1088106"/>
                </a:moveTo>
                <a:lnTo>
                  <a:pt x="3065088" y="1088106"/>
                </a:lnTo>
                <a:lnTo>
                  <a:pt x="3065088" y="0"/>
                </a:lnTo>
                <a:lnTo>
                  <a:pt x="0" y="0"/>
                </a:lnTo>
                <a:lnTo>
                  <a:pt x="0" y="1088106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9754084">
            <a:off x="8093534" y="4847048"/>
            <a:ext cx="2689094" cy="282355"/>
          </a:xfrm>
          <a:custGeom>
            <a:avLst/>
            <a:gdLst/>
            <a:ahLst/>
            <a:cxnLst/>
            <a:rect r="r" b="b" t="t" l="l"/>
            <a:pathLst>
              <a:path h="282355" w="2689094">
                <a:moveTo>
                  <a:pt x="0" y="0"/>
                </a:moveTo>
                <a:lnTo>
                  <a:pt x="2689094" y="0"/>
                </a:lnTo>
                <a:lnTo>
                  <a:pt x="2689094" y="282355"/>
                </a:lnTo>
                <a:lnTo>
                  <a:pt x="0" y="2823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true" rot="-10163603">
            <a:off x="8116004" y="6550931"/>
            <a:ext cx="2689094" cy="282355"/>
          </a:xfrm>
          <a:custGeom>
            <a:avLst/>
            <a:gdLst/>
            <a:ahLst/>
            <a:cxnLst/>
            <a:rect r="r" b="b" t="t" l="l"/>
            <a:pathLst>
              <a:path h="282355" w="2689094">
                <a:moveTo>
                  <a:pt x="0" y="282355"/>
                </a:moveTo>
                <a:lnTo>
                  <a:pt x="2689094" y="282355"/>
                </a:lnTo>
                <a:lnTo>
                  <a:pt x="2689094" y="0"/>
                </a:lnTo>
                <a:lnTo>
                  <a:pt x="0" y="0"/>
                </a:lnTo>
                <a:lnTo>
                  <a:pt x="0" y="282355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-1626246" y="7883577"/>
            <a:ext cx="8784865" cy="6105481"/>
          </a:xfrm>
          <a:custGeom>
            <a:avLst/>
            <a:gdLst/>
            <a:ahLst/>
            <a:cxnLst/>
            <a:rect r="r" b="b" t="t" l="l"/>
            <a:pathLst>
              <a:path h="6105481" w="8784865">
                <a:moveTo>
                  <a:pt x="0" y="0"/>
                </a:moveTo>
                <a:lnTo>
                  <a:pt x="8784866" y="0"/>
                </a:lnTo>
                <a:lnTo>
                  <a:pt x="8784866" y="6105482"/>
                </a:lnTo>
                <a:lnTo>
                  <a:pt x="0" y="610548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alphaModFix amt="64000"/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28700" y="956583"/>
            <a:ext cx="7277820" cy="188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b="true" sz="7213" spc="-389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 OBJETIVOS</a:t>
            </a:r>
          </a:p>
          <a:p>
            <a:pPr algn="l">
              <a:lnSpc>
                <a:spcPts val="7285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3496006" y="3108642"/>
            <a:ext cx="2141670" cy="69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6"/>
              </a:lnSpc>
            </a:pPr>
            <a:r>
              <a:rPr lang="en-US" sz="4382" spc="-236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General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8650" y="5056729"/>
            <a:ext cx="6356381" cy="2402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b="true" sz="2544" spc="-137">
                <a:gradFill>
                  <a:gsLst>
                    <a:gs pos="0">
                      <a:srgbClr val="C6C6C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Desarrollar una plataforma web inteligente de gestión escolar con análisis predictivo, inteligencia artificial y comunicación automatizada para optimizar decisiones preventivas y evitar la repitencia estudiantil.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02619" y="1358425"/>
            <a:ext cx="4674434" cy="59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7"/>
              </a:lnSpc>
            </a:pPr>
            <a:r>
              <a:rPr lang="en-US" sz="3753" spc="-20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Específicos Claves: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31131" y="2792986"/>
            <a:ext cx="4434574" cy="48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3136" spc="-16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Base de datos relacional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31131" y="4431693"/>
            <a:ext cx="3584012" cy="48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3136" spc="-16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Dashboards por rol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45406" y="6350790"/>
            <a:ext cx="4434574" cy="48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3136" spc="-169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Modelo Machine Learning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31131" y="8242761"/>
            <a:ext cx="3749929" cy="54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1"/>
              </a:lnSpc>
            </a:pPr>
            <a:r>
              <a:rPr lang="en-US" sz="3497" spc="-18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Integración</a:t>
            </a:r>
            <a:r>
              <a:rPr lang="en-US" sz="3497" spc="-18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3497" spc="-18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de Apis</a:t>
            </a:r>
          </a:p>
        </p:txBody>
      </p:sp>
      <p:sp>
        <p:nvSpPr>
          <p:cNvPr name="Freeform 36" id="36"/>
          <p:cNvSpPr/>
          <p:nvPr/>
        </p:nvSpPr>
        <p:spPr>
          <a:xfrm flipH="false" flipV="true" rot="-10163603">
            <a:off x="8107994" y="6573791"/>
            <a:ext cx="2689094" cy="282355"/>
          </a:xfrm>
          <a:custGeom>
            <a:avLst/>
            <a:gdLst/>
            <a:ahLst/>
            <a:cxnLst/>
            <a:rect r="r" b="b" t="t" l="l"/>
            <a:pathLst>
              <a:path h="282355" w="2689094">
                <a:moveTo>
                  <a:pt x="0" y="282355"/>
                </a:moveTo>
                <a:lnTo>
                  <a:pt x="2689095" y="282355"/>
                </a:lnTo>
                <a:lnTo>
                  <a:pt x="2689095" y="0"/>
                </a:lnTo>
                <a:lnTo>
                  <a:pt x="0" y="0"/>
                </a:lnTo>
                <a:lnTo>
                  <a:pt x="0" y="282355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7" id="37"/>
          <p:cNvSpPr/>
          <p:nvPr/>
        </p:nvSpPr>
        <p:spPr>
          <a:xfrm flipH="false" flipV="true" rot="-10163603">
            <a:off x="8107994" y="6532667"/>
            <a:ext cx="2689094" cy="282355"/>
          </a:xfrm>
          <a:custGeom>
            <a:avLst/>
            <a:gdLst/>
            <a:ahLst/>
            <a:cxnLst/>
            <a:rect r="r" b="b" t="t" l="l"/>
            <a:pathLst>
              <a:path h="282355" w="2689094">
                <a:moveTo>
                  <a:pt x="0" y="282355"/>
                </a:moveTo>
                <a:lnTo>
                  <a:pt x="2689095" y="282355"/>
                </a:lnTo>
                <a:lnTo>
                  <a:pt x="2689095" y="0"/>
                </a:lnTo>
                <a:lnTo>
                  <a:pt x="0" y="0"/>
                </a:lnTo>
                <a:lnTo>
                  <a:pt x="0" y="282355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8" id="38"/>
          <p:cNvSpPr/>
          <p:nvPr/>
        </p:nvSpPr>
        <p:spPr>
          <a:xfrm flipH="false" flipV="false" rot="9754084">
            <a:off x="8093534" y="4868003"/>
            <a:ext cx="2689094" cy="282355"/>
          </a:xfrm>
          <a:custGeom>
            <a:avLst/>
            <a:gdLst/>
            <a:ahLst/>
            <a:cxnLst/>
            <a:rect r="r" b="b" t="t" l="l"/>
            <a:pathLst>
              <a:path h="282355" w="2689094">
                <a:moveTo>
                  <a:pt x="0" y="0"/>
                </a:moveTo>
                <a:lnTo>
                  <a:pt x="2689094" y="0"/>
                </a:lnTo>
                <a:lnTo>
                  <a:pt x="2689094" y="282355"/>
                </a:lnTo>
                <a:lnTo>
                  <a:pt x="0" y="2823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9754084">
            <a:off x="8066962" y="4831808"/>
            <a:ext cx="2689094" cy="282355"/>
          </a:xfrm>
          <a:custGeom>
            <a:avLst/>
            <a:gdLst/>
            <a:ahLst/>
            <a:cxnLst/>
            <a:rect r="r" b="b" t="t" l="l"/>
            <a:pathLst>
              <a:path h="282355" w="2689094">
                <a:moveTo>
                  <a:pt x="0" y="0"/>
                </a:moveTo>
                <a:lnTo>
                  <a:pt x="2689094" y="0"/>
                </a:lnTo>
                <a:lnTo>
                  <a:pt x="2689094" y="282355"/>
                </a:lnTo>
                <a:lnTo>
                  <a:pt x="0" y="2823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2426" y="-11369167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75755" y="3740205"/>
            <a:ext cx="4845280" cy="5933895"/>
            <a:chOff x="0" y="0"/>
            <a:chExt cx="1276123" cy="15628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6123" cy="1562837"/>
            </a:xfrm>
            <a:custGeom>
              <a:avLst/>
              <a:gdLst/>
              <a:ahLst/>
              <a:cxnLst/>
              <a:rect r="r" b="b" t="t" l="l"/>
              <a:pathLst>
                <a:path h="1562837" w="1276123">
                  <a:moveTo>
                    <a:pt x="38348" y="0"/>
                  </a:moveTo>
                  <a:lnTo>
                    <a:pt x="1237775" y="0"/>
                  </a:lnTo>
                  <a:cubicBezTo>
                    <a:pt x="1247946" y="0"/>
                    <a:pt x="1257700" y="4040"/>
                    <a:pt x="1264891" y="11232"/>
                  </a:cubicBezTo>
                  <a:cubicBezTo>
                    <a:pt x="1272083" y="18423"/>
                    <a:pt x="1276123" y="28177"/>
                    <a:pt x="1276123" y="38348"/>
                  </a:cubicBezTo>
                  <a:lnTo>
                    <a:pt x="1276123" y="1524489"/>
                  </a:lnTo>
                  <a:cubicBezTo>
                    <a:pt x="1276123" y="1545668"/>
                    <a:pt x="1258954" y="1562837"/>
                    <a:pt x="1237775" y="1562837"/>
                  </a:cubicBezTo>
                  <a:lnTo>
                    <a:pt x="38348" y="1562837"/>
                  </a:lnTo>
                  <a:cubicBezTo>
                    <a:pt x="17169" y="1562837"/>
                    <a:pt x="0" y="1545668"/>
                    <a:pt x="0" y="1524489"/>
                  </a:cubicBezTo>
                  <a:lnTo>
                    <a:pt x="0" y="38348"/>
                  </a:lnTo>
                  <a:cubicBezTo>
                    <a:pt x="0" y="17169"/>
                    <a:pt x="17169" y="0"/>
                    <a:pt x="38348" y="0"/>
                  </a:cubicBezTo>
                  <a:close/>
                </a:path>
              </a:pathLst>
            </a:custGeom>
            <a:solidFill>
              <a:srgbClr val="B8DA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276123" cy="1543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8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2207952" y="6829327"/>
            <a:ext cx="2323829" cy="0"/>
          </a:xfrm>
          <a:prstGeom prst="line">
            <a:avLst/>
          </a:prstGeom>
          <a:ln cap="flat" w="47625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832444" y="3992823"/>
            <a:ext cx="1131901" cy="1120582"/>
          </a:xfrm>
          <a:custGeom>
            <a:avLst/>
            <a:gdLst/>
            <a:ahLst/>
            <a:cxnLst/>
            <a:rect r="r" b="b" t="t" l="l"/>
            <a:pathLst>
              <a:path h="1120582" w="1131901">
                <a:moveTo>
                  <a:pt x="0" y="0"/>
                </a:moveTo>
                <a:lnTo>
                  <a:pt x="1131901" y="0"/>
                </a:lnTo>
                <a:lnTo>
                  <a:pt x="1131901" y="1120582"/>
                </a:lnTo>
                <a:lnTo>
                  <a:pt x="0" y="1120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4365" y="6100477"/>
            <a:ext cx="3882359" cy="481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3"/>
              </a:lnSpc>
            </a:pPr>
            <a:r>
              <a:rPr lang="en-US" sz="3050" spc="-164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4 meses 1/2 - Scrum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51514" y="5468943"/>
            <a:ext cx="1893762" cy="39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59" spc="-132">
                <a:solidFill>
                  <a:srgbClr val="1B48AB"/>
                </a:solidFill>
                <a:latin typeface="TT Firs Neue"/>
                <a:ea typeface="TT Firs Neue"/>
                <a:cs typeface="TT Firs Neue"/>
                <a:sym typeface="TT Firs Neue"/>
              </a:rPr>
              <a:t>Metodologico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721360" y="3740205"/>
            <a:ext cx="4845280" cy="5933895"/>
            <a:chOff x="0" y="0"/>
            <a:chExt cx="1276123" cy="15628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6123" cy="1562837"/>
            </a:xfrm>
            <a:custGeom>
              <a:avLst/>
              <a:gdLst/>
              <a:ahLst/>
              <a:cxnLst/>
              <a:rect r="r" b="b" t="t" l="l"/>
              <a:pathLst>
                <a:path h="1562837" w="1276123">
                  <a:moveTo>
                    <a:pt x="38348" y="0"/>
                  </a:moveTo>
                  <a:lnTo>
                    <a:pt x="1237775" y="0"/>
                  </a:lnTo>
                  <a:cubicBezTo>
                    <a:pt x="1247946" y="0"/>
                    <a:pt x="1257700" y="4040"/>
                    <a:pt x="1264891" y="11232"/>
                  </a:cubicBezTo>
                  <a:cubicBezTo>
                    <a:pt x="1272083" y="18423"/>
                    <a:pt x="1276123" y="28177"/>
                    <a:pt x="1276123" y="38348"/>
                  </a:cubicBezTo>
                  <a:lnTo>
                    <a:pt x="1276123" y="1524489"/>
                  </a:lnTo>
                  <a:cubicBezTo>
                    <a:pt x="1276123" y="1545668"/>
                    <a:pt x="1258954" y="1562837"/>
                    <a:pt x="1237775" y="1562837"/>
                  </a:cubicBezTo>
                  <a:lnTo>
                    <a:pt x="38348" y="1562837"/>
                  </a:lnTo>
                  <a:cubicBezTo>
                    <a:pt x="17169" y="1562837"/>
                    <a:pt x="0" y="1545668"/>
                    <a:pt x="0" y="1524489"/>
                  </a:cubicBezTo>
                  <a:lnTo>
                    <a:pt x="0" y="38348"/>
                  </a:lnTo>
                  <a:cubicBezTo>
                    <a:pt x="0" y="17169"/>
                    <a:pt x="17169" y="0"/>
                    <a:pt x="38348" y="0"/>
                  </a:cubicBezTo>
                  <a:close/>
                </a:path>
              </a:pathLst>
            </a:custGeom>
            <a:solidFill>
              <a:srgbClr val="B8DAE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276123" cy="1543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8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7953558" y="6829327"/>
            <a:ext cx="2323829" cy="0"/>
          </a:xfrm>
          <a:prstGeom prst="line">
            <a:avLst/>
          </a:prstGeom>
          <a:ln cap="flat" w="47625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2639448" y="3740205"/>
            <a:ext cx="4845280" cy="5933895"/>
            <a:chOff x="0" y="0"/>
            <a:chExt cx="1276123" cy="15628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6123" cy="1562837"/>
            </a:xfrm>
            <a:custGeom>
              <a:avLst/>
              <a:gdLst/>
              <a:ahLst/>
              <a:cxnLst/>
              <a:rect r="r" b="b" t="t" l="l"/>
              <a:pathLst>
                <a:path h="1562837" w="1276123">
                  <a:moveTo>
                    <a:pt x="38348" y="0"/>
                  </a:moveTo>
                  <a:lnTo>
                    <a:pt x="1237775" y="0"/>
                  </a:lnTo>
                  <a:cubicBezTo>
                    <a:pt x="1247946" y="0"/>
                    <a:pt x="1257700" y="4040"/>
                    <a:pt x="1264891" y="11232"/>
                  </a:cubicBezTo>
                  <a:cubicBezTo>
                    <a:pt x="1272083" y="18423"/>
                    <a:pt x="1276123" y="28177"/>
                    <a:pt x="1276123" y="38348"/>
                  </a:cubicBezTo>
                  <a:lnTo>
                    <a:pt x="1276123" y="1524489"/>
                  </a:lnTo>
                  <a:cubicBezTo>
                    <a:pt x="1276123" y="1545668"/>
                    <a:pt x="1258954" y="1562837"/>
                    <a:pt x="1237775" y="1562837"/>
                  </a:cubicBezTo>
                  <a:lnTo>
                    <a:pt x="38348" y="1562837"/>
                  </a:lnTo>
                  <a:cubicBezTo>
                    <a:pt x="17169" y="1562837"/>
                    <a:pt x="0" y="1545668"/>
                    <a:pt x="0" y="1524489"/>
                  </a:cubicBezTo>
                  <a:lnTo>
                    <a:pt x="0" y="38348"/>
                  </a:lnTo>
                  <a:cubicBezTo>
                    <a:pt x="0" y="17169"/>
                    <a:pt x="17169" y="0"/>
                    <a:pt x="38348" y="0"/>
                  </a:cubicBezTo>
                  <a:close/>
                </a:path>
              </a:pathLst>
            </a:custGeom>
            <a:solidFill>
              <a:srgbClr val="B8DAE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1276123" cy="1543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8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3871646" y="6829327"/>
            <a:ext cx="2323829" cy="0"/>
          </a:xfrm>
          <a:prstGeom prst="line">
            <a:avLst/>
          </a:prstGeom>
          <a:ln cap="flat" w="47625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8477250" y="3947349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628796" y="4040482"/>
            <a:ext cx="980884" cy="1147233"/>
          </a:xfrm>
          <a:custGeom>
            <a:avLst/>
            <a:gdLst/>
            <a:ahLst/>
            <a:cxnLst/>
            <a:rect r="r" b="b" t="t" l="l"/>
            <a:pathLst>
              <a:path h="1147233" w="980884">
                <a:moveTo>
                  <a:pt x="0" y="0"/>
                </a:moveTo>
                <a:lnTo>
                  <a:pt x="980884" y="0"/>
                </a:lnTo>
                <a:lnTo>
                  <a:pt x="980884" y="1147233"/>
                </a:lnTo>
                <a:lnTo>
                  <a:pt x="0" y="11472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75755" y="555897"/>
            <a:ext cx="5585659" cy="108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1"/>
              </a:lnSpc>
            </a:pPr>
            <a:r>
              <a:rPr lang="en-US" b="true" sz="8100" spc="-437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ALCANCES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774365"/>
            <a:ext cx="10850485" cy="51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252" spc="-175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Limites y condiciones que marcan a nuestro proyecto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0566" y="7313452"/>
            <a:ext cx="4349958" cy="182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848" spc="-15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El ciclo de vida del software se ajusta al semestre, organizado en sprints bajo scrum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07951" y="5871877"/>
            <a:ext cx="3272098" cy="90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7"/>
              </a:lnSpc>
            </a:pPr>
            <a:r>
              <a:rPr lang="en-US" b="true" sz="2848" spc="-153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Costo desarrollo $0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21724" y="5468943"/>
            <a:ext cx="1893762" cy="39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59" spc="-132">
                <a:solidFill>
                  <a:srgbClr val="1B48AB"/>
                </a:solidFill>
                <a:latin typeface="TT Firs Neue"/>
                <a:ea typeface="TT Firs Neue"/>
                <a:cs typeface="TT Firs Neue"/>
                <a:sym typeface="TT Firs Neue"/>
              </a:rPr>
              <a:t>Economico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31933" y="7134223"/>
            <a:ext cx="4196617" cy="2190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747" spc="-148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Alta viabilidad: no requiere inversion de hardware o licencias, se utiliza software de código abierto y capas gratuitas de Apis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06729" y="6100477"/>
            <a:ext cx="3842499" cy="45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848" spc="-153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Datos 100% sinteticos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82381" y="5473465"/>
            <a:ext cx="2473715" cy="39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459" spc="-132">
                <a:solidFill>
                  <a:srgbClr val="1B48AB"/>
                </a:solidFill>
                <a:latin typeface="TT Firs Neue"/>
                <a:ea typeface="TT Firs Neue"/>
                <a:cs typeface="TT Firs Neue"/>
                <a:sym typeface="TT Firs Neue"/>
              </a:rPr>
              <a:t>Legal y Privacidad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44259" y="7265827"/>
            <a:ext cx="4349958" cy="182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7"/>
              </a:lnSpc>
            </a:pPr>
            <a:r>
              <a:rPr lang="en-US" sz="2848" spc="-153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Para respetar la normativa de proteccion de datos de menores, el sistema se entrena con datos ficticios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9314" y="8066114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1"/>
                </a:lnTo>
                <a:lnTo>
                  <a:pt x="0" y="151093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2254354" y="7432198"/>
            <a:ext cx="5749797" cy="819346"/>
          </a:xfrm>
          <a:custGeom>
            <a:avLst/>
            <a:gdLst/>
            <a:ahLst/>
            <a:cxnLst/>
            <a:rect r="r" b="b" t="t" l="l"/>
            <a:pathLst>
              <a:path h="819346" w="5749797">
                <a:moveTo>
                  <a:pt x="0" y="0"/>
                </a:moveTo>
                <a:lnTo>
                  <a:pt x="5749798" y="0"/>
                </a:lnTo>
                <a:lnTo>
                  <a:pt x="5749798" y="819346"/>
                </a:lnTo>
                <a:lnTo>
                  <a:pt x="0" y="819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2254354" y="5736552"/>
            <a:ext cx="5749797" cy="819346"/>
          </a:xfrm>
          <a:custGeom>
            <a:avLst/>
            <a:gdLst/>
            <a:ahLst/>
            <a:cxnLst/>
            <a:rect r="r" b="b" t="t" l="l"/>
            <a:pathLst>
              <a:path h="819346" w="5749797">
                <a:moveTo>
                  <a:pt x="0" y="0"/>
                </a:moveTo>
                <a:lnTo>
                  <a:pt x="5749798" y="0"/>
                </a:lnTo>
                <a:lnTo>
                  <a:pt x="5749798" y="819346"/>
                </a:lnTo>
                <a:lnTo>
                  <a:pt x="0" y="819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2133344" y="4040906"/>
            <a:ext cx="5749797" cy="819346"/>
          </a:xfrm>
          <a:custGeom>
            <a:avLst/>
            <a:gdLst/>
            <a:ahLst/>
            <a:cxnLst/>
            <a:rect r="r" b="b" t="t" l="l"/>
            <a:pathLst>
              <a:path h="819346" w="5749797">
                <a:moveTo>
                  <a:pt x="0" y="0"/>
                </a:moveTo>
                <a:lnTo>
                  <a:pt x="5749798" y="0"/>
                </a:lnTo>
                <a:lnTo>
                  <a:pt x="5749798" y="819346"/>
                </a:lnTo>
                <a:lnTo>
                  <a:pt x="0" y="819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149710" y="7432198"/>
            <a:ext cx="819688" cy="819346"/>
          </a:xfrm>
          <a:custGeom>
            <a:avLst/>
            <a:gdLst/>
            <a:ahLst/>
            <a:cxnLst/>
            <a:rect r="r" b="b" t="t" l="l"/>
            <a:pathLst>
              <a:path h="819346" w="819688">
                <a:moveTo>
                  <a:pt x="0" y="0"/>
                </a:moveTo>
                <a:lnTo>
                  <a:pt x="819688" y="0"/>
                </a:lnTo>
                <a:lnTo>
                  <a:pt x="819688" y="819346"/>
                </a:lnTo>
                <a:lnTo>
                  <a:pt x="0" y="819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7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149710" y="5736552"/>
            <a:ext cx="819688" cy="819346"/>
          </a:xfrm>
          <a:custGeom>
            <a:avLst/>
            <a:gdLst/>
            <a:ahLst/>
            <a:cxnLst/>
            <a:rect r="r" b="b" t="t" l="l"/>
            <a:pathLst>
              <a:path h="819346" w="819688">
                <a:moveTo>
                  <a:pt x="0" y="0"/>
                </a:moveTo>
                <a:lnTo>
                  <a:pt x="819688" y="0"/>
                </a:lnTo>
                <a:lnTo>
                  <a:pt x="819688" y="819346"/>
                </a:lnTo>
                <a:lnTo>
                  <a:pt x="0" y="819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7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028700" y="4040906"/>
            <a:ext cx="819688" cy="819346"/>
          </a:xfrm>
          <a:custGeom>
            <a:avLst/>
            <a:gdLst/>
            <a:ahLst/>
            <a:cxnLst/>
            <a:rect r="r" b="b" t="t" l="l"/>
            <a:pathLst>
              <a:path h="819346" w="819688">
                <a:moveTo>
                  <a:pt x="0" y="0"/>
                </a:moveTo>
                <a:lnTo>
                  <a:pt x="819688" y="0"/>
                </a:lnTo>
                <a:lnTo>
                  <a:pt x="819688" y="819346"/>
                </a:lnTo>
                <a:lnTo>
                  <a:pt x="0" y="819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7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32313" y="4363513"/>
            <a:ext cx="268628" cy="277652"/>
          </a:xfrm>
          <a:custGeom>
            <a:avLst/>
            <a:gdLst/>
            <a:ahLst/>
            <a:cxnLst/>
            <a:rect r="r" b="b" t="t" l="l"/>
            <a:pathLst>
              <a:path h="277652" w="268628">
                <a:moveTo>
                  <a:pt x="0" y="0"/>
                </a:moveTo>
                <a:lnTo>
                  <a:pt x="268629" y="0"/>
                </a:lnTo>
                <a:lnTo>
                  <a:pt x="268629" y="277652"/>
                </a:lnTo>
                <a:lnTo>
                  <a:pt x="0" y="277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32313" y="5990215"/>
            <a:ext cx="268628" cy="277652"/>
          </a:xfrm>
          <a:custGeom>
            <a:avLst/>
            <a:gdLst/>
            <a:ahLst/>
            <a:cxnLst/>
            <a:rect r="r" b="b" t="t" l="l"/>
            <a:pathLst>
              <a:path h="277652" w="268628">
                <a:moveTo>
                  <a:pt x="0" y="0"/>
                </a:moveTo>
                <a:lnTo>
                  <a:pt x="268629" y="0"/>
                </a:lnTo>
                <a:lnTo>
                  <a:pt x="268629" y="277652"/>
                </a:lnTo>
                <a:lnTo>
                  <a:pt x="0" y="277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32313" y="7685861"/>
            <a:ext cx="268628" cy="277652"/>
          </a:xfrm>
          <a:custGeom>
            <a:avLst/>
            <a:gdLst/>
            <a:ahLst/>
            <a:cxnLst/>
            <a:rect r="r" b="b" t="t" l="l"/>
            <a:pathLst>
              <a:path h="277652" w="268628">
                <a:moveTo>
                  <a:pt x="0" y="0"/>
                </a:moveTo>
                <a:lnTo>
                  <a:pt x="268629" y="0"/>
                </a:lnTo>
                <a:lnTo>
                  <a:pt x="268629" y="277652"/>
                </a:lnTo>
                <a:lnTo>
                  <a:pt x="0" y="2776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576160" y="1028700"/>
            <a:ext cx="4280029" cy="1496815"/>
          </a:xfrm>
          <a:custGeom>
            <a:avLst/>
            <a:gdLst/>
            <a:ahLst/>
            <a:cxnLst/>
            <a:rect r="r" b="b" t="t" l="l"/>
            <a:pathLst>
              <a:path h="1496815" w="4280029">
                <a:moveTo>
                  <a:pt x="0" y="0"/>
                </a:moveTo>
                <a:lnTo>
                  <a:pt x="4280028" y="0"/>
                </a:lnTo>
                <a:lnTo>
                  <a:pt x="4280028" y="1496815"/>
                </a:lnTo>
                <a:lnTo>
                  <a:pt x="0" y="14968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76408" y="3148118"/>
            <a:ext cx="4778237" cy="3875618"/>
          </a:xfrm>
          <a:custGeom>
            <a:avLst/>
            <a:gdLst/>
            <a:ahLst/>
            <a:cxnLst/>
            <a:rect r="r" b="b" t="t" l="l"/>
            <a:pathLst>
              <a:path h="3875618" w="4778237">
                <a:moveTo>
                  <a:pt x="0" y="0"/>
                </a:moveTo>
                <a:lnTo>
                  <a:pt x="4778237" y="0"/>
                </a:lnTo>
                <a:lnTo>
                  <a:pt x="4778237" y="3875619"/>
                </a:lnTo>
                <a:lnTo>
                  <a:pt x="0" y="38756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76408" y="7003557"/>
            <a:ext cx="4778237" cy="2960121"/>
          </a:xfrm>
          <a:custGeom>
            <a:avLst/>
            <a:gdLst/>
            <a:ahLst/>
            <a:cxnLst/>
            <a:rect r="r" b="b" t="t" l="l"/>
            <a:pathLst>
              <a:path h="2960121" w="4778237">
                <a:moveTo>
                  <a:pt x="0" y="0"/>
                </a:moveTo>
                <a:lnTo>
                  <a:pt x="4778237" y="0"/>
                </a:lnTo>
                <a:lnTo>
                  <a:pt x="4778237" y="2960120"/>
                </a:lnTo>
                <a:lnTo>
                  <a:pt x="0" y="29601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209675"/>
            <a:ext cx="9429558" cy="131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b="true" sz="9854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HITOS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7424" y="4253461"/>
            <a:ext cx="4243659" cy="46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1"/>
              </a:lnSpc>
            </a:pPr>
            <a:r>
              <a:rPr lang="en-US" sz="2938" spc="-158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Inicio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9710" y="4299155"/>
            <a:ext cx="521579" cy="30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1892" spc="-10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0720" y="5985276"/>
            <a:ext cx="521579" cy="30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1892" spc="-10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0720" y="7682129"/>
            <a:ext cx="521579" cy="30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1892" spc="-10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80913" y="5897347"/>
            <a:ext cx="4902229" cy="46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1"/>
              </a:lnSpc>
            </a:pPr>
            <a:r>
              <a:rPr lang="en-US" sz="2938" spc="-158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Desarrollo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33307" y="7600823"/>
            <a:ext cx="4243659" cy="46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1"/>
              </a:lnSpc>
            </a:pPr>
            <a:r>
              <a:rPr lang="en-US" sz="2938" spc="-158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Cierre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36886" y="6549682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5072782" y="5096634"/>
            <a:ext cx="1254758" cy="3350201"/>
          </a:xfrm>
          <a:custGeom>
            <a:avLst/>
            <a:gdLst/>
            <a:ahLst/>
            <a:cxnLst/>
            <a:rect r="r" b="b" t="t" l="l"/>
            <a:pathLst>
              <a:path h="3350201" w="1254758">
                <a:moveTo>
                  <a:pt x="0" y="0"/>
                </a:moveTo>
                <a:lnTo>
                  <a:pt x="1254758" y="0"/>
                </a:lnTo>
                <a:lnTo>
                  <a:pt x="1254758" y="3350201"/>
                </a:lnTo>
                <a:lnTo>
                  <a:pt x="0" y="33502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8805" t="0" r="-31154" b="-732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0562369" y="5065079"/>
            <a:ext cx="1254758" cy="3350201"/>
          </a:xfrm>
          <a:custGeom>
            <a:avLst/>
            <a:gdLst/>
            <a:ahLst/>
            <a:cxnLst/>
            <a:rect r="r" b="b" t="t" l="l"/>
            <a:pathLst>
              <a:path h="3350201" w="1254758">
                <a:moveTo>
                  <a:pt x="0" y="0"/>
                </a:moveTo>
                <a:lnTo>
                  <a:pt x="1254758" y="0"/>
                </a:lnTo>
                <a:lnTo>
                  <a:pt x="1254758" y="3350201"/>
                </a:lnTo>
                <a:lnTo>
                  <a:pt x="0" y="33502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8805" t="0" r="-31154" b="-732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9221" y="1209675"/>
            <a:ext cx="9429558" cy="131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53"/>
              </a:lnSpc>
            </a:pPr>
            <a:r>
              <a:rPr lang="en-US" b="true" sz="9854" spc="-532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CONCLUSIÓN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97019" y="6597116"/>
            <a:ext cx="293369" cy="303224"/>
          </a:xfrm>
          <a:custGeom>
            <a:avLst/>
            <a:gdLst/>
            <a:ahLst/>
            <a:cxnLst/>
            <a:rect r="r" b="b" t="t" l="l"/>
            <a:pathLst>
              <a:path h="303224" w="293369">
                <a:moveTo>
                  <a:pt x="0" y="0"/>
                </a:moveTo>
                <a:lnTo>
                  <a:pt x="293369" y="0"/>
                </a:lnTo>
                <a:lnTo>
                  <a:pt x="293369" y="303223"/>
                </a:lnTo>
                <a:lnTo>
                  <a:pt x="0" y="303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32968" y="-13697948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8228" y="6604345"/>
            <a:ext cx="293369" cy="303224"/>
          </a:xfrm>
          <a:custGeom>
            <a:avLst/>
            <a:gdLst/>
            <a:ahLst/>
            <a:cxnLst/>
            <a:rect r="r" b="b" t="t" l="l"/>
            <a:pathLst>
              <a:path h="303224" w="293369">
                <a:moveTo>
                  <a:pt x="0" y="0"/>
                </a:moveTo>
                <a:lnTo>
                  <a:pt x="293369" y="0"/>
                </a:lnTo>
                <a:lnTo>
                  <a:pt x="293369" y="303224"/>
                </a:lnTo>
                <a:lnTo>
                  <a:pt x="0" y="30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8228" y="5172230"/>
            <a:ext cx="293369" cy="303224"/>
          </a:xfrm>
          <a:custGeom>
            <a:avLst/>
            <a:gdLst/>
            <a:ahLst/>
            <a:cxnLst/>
            <a:rect r="r" b="b" t="t" l="l"/>
            <a:pathLst>
              <a:path h="303224" w="293369">
                <a:moveTo>
                  <a:pt x="0" y="0"/>
                </a:moveTo>
                <a:lnTo>
                  <a:pt x="293369" y="0"/>
                </a:lnTo>
                <a:lnTo>
                  <a:pt x="293369" y="303223"/>
                </a:lnTo>
                <a:lnTo>
                  <a:pt x="0" y="303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526666" y="6258081"/>
            <a:ext cx="801073" cy="838819"/>
          </a:xfrm>
          <a:custGeom>
            <a:avLst/>
            <a:gdLst/>
            <a:ahLst/>
            <a:cxnLst/>
            <a:rect r="r" b="b" t="t" l="l"/>
            <a:pathLst>
              <a:path h="838819" w="801073">
                <a:moveTo>
                  <a:pt x="0" y="0"/>
                </a:moveTo>
                <a:lnTo>
                  <a:pt x="801073" y="0"/>
                </a:lnTo>
                <a:lnTo>
                  <a:pt x="801073" y="838820"/>
                </a:lnTo>
                <a:lnTo>
                  <a:pt x="0" y="8388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55374" y="6303216"/>
            <a:ext cx="1007566" cy="937037"/>
          </a:xfrm>
          <a:custGeom>
            <a:avLst/>
            <a:gdLst/>
            <a:ahLst/>
            <a:cxnLst/>
            <a:rect r="r" b="b" t="t" l="l"/>
            <a:pathLst>
              <a:path h="937037" w="1007566">
                <a:moveTo>
                  <a:pt x="0" y="0"/>
                </a:moveTo>
                <a:lnTo>
                  <a:pt x="1007566" y="0"/>
                </a:lnTo>
                <a:lnTo>
                  <a:pt x="1007566" y="937037"/>
                </a:lnTo>
                <a:lnTo>
                  <a:pt x="0" y="9370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526666" y="4005892"/>
            <a:ext cx="6996115" cy="51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252" spc="-175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"/>
                <a:ea typeface="TT Firs Neue"/>
                <a:cs typeface="TT Firs Neue"/>
                <a:sym typeface="TT Firs Neue"/>
              </a:rPr>
              <a:t>Que llevamos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77017" y="6383700"/>
            <a:ext cx="2359124" cy="73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538" spc="-137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Desarrollo de la propuesta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70884" y="6201577"/>
            <a:ext cx="2331605" cy="109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538" spc="-137">
                <a:solidFill>
                  <a:srgbClr val="030207"/>
                </a:solidFill>
                <a:latin typeface="TT Firs Neue"/>
                <a:ea typeface="TT Firs Neue"/>
                <a:cs typeface="TT Firs Neue"/>
                <a:sym typeface="TT Firs Neue"/>
              </a:rPr>
              <a:t>Desicion del stack tecnologico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24827" y="-11080162"/>
            <a:ext cx="15109372" cy="15109372"/>
          </a:xfrm>
          <a:custGeom>
            <a:avLst/>
            <a:gdLst/>
            <a:ahLst/>
            <a:cxnLst/>
            <a:rect r="r" b="b" t="t" l="l"/>
            <a:pathLst>
              <a:path h="15109372" w="15109372">
                <a:moveTo>
                  <a:pt x="0" y="0"/>
                </a:moveTo>
                <a:lnTo>
                  <a:pt x="15109372" y="0"/>
                </a:lnTo>
                <a:lnTo>
                  <a:pt x="15109372" y="15109372"/>
                </a:lnTo>
                <a:lnTo>
                  <a:pt x="0" y="151093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68190" y="7680572"/>
            <a:ext cx="3551619" cy="1340950"/>
          </a:xfrm>
          <a:custGeom>
            <a:avLst/>
            <a:gdLst/>
            <a:ahLst/>
            <a:cxnLst/>
            <a:rect r="r" b="b" t="t" l="l"/>
            <a:pathLst>
              <a:path h="1340950" w="3551619">
                <a:moveTo>
                  <a:pt x="0" y="0"/>
                </a:moveTo>
                <a:lnTo>
                  <a:pt x="3551620" y="0"/>
                </a:lnTo>
                <a:lnTo>
                  <a:pt x="3551620" y="1340950"/>
                </a:lnTo>
                <a:lnTo>
                  <a:pt x="0" y="13409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32582" y="4395141"/>
            <a:ext cx="15269493" cy="249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5"/>
              </a:lnSpc>
            </a:pPr>
            <a:r>
              <a:rPr lang="en-US" b="true" sz="9014" spc="-486">
                <a:gradFill>
                  <a:gsLst>
                    <a:gs pos="0">
                      <a:srgbClr val="AED6E4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TT Firs Neue Bold"/>
                <a:ea typeface="TT Firs Neue Bold"/>
                <a:cs typeface="TT Firs Neue Bold"/>
                <a:sym typeface="TT Firs Neue Bold"/>
              </a:rPr>
              <a:t>MUCHAS GRACIAS POR SU ATENCION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DAHT0lpbi_M</dc:identifier>
  <dcterms:modified xsi:type="dcterms:W3CDTF">2011-08-01T06:04:30Z</dcterms:modified>
  <cp:revision>1</cp:revision>
  <dc:title>Plataforma academica</dc:title>
</cp:coreProperties>
</file>